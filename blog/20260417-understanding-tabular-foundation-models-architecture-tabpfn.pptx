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04" r:id="rId2"/>
    <p:sldId id="326" r:id="rId3"/>
    <p:sldId id="327" r:id="rId4"/>
    <p:sldId id="305" r:id="rId5"/>
    <p:sldId id="314" r:id="rId6"/>
    <p:sldId id="308" r:id="rId7"/>
    <p:sldId id="306" r:id="rId8"/>
    <p:sldId id="324" r:id="rId9"/>
    <p:sldId id="325" r:id="rId10"/>
    <p:sldId id="307" r:id="rId11"/>
    <p:sldId id="309" r:id="rId12"/>
    <p:sldId id="317" r:id="rId13"/>
    <p:sldId id="318" r:id="rId14"/>
    <p:sldId id="319" r:id="rId15"/>
    <p:sldId id="320" r:id="rId16"/>
    <p:sldId id="321" r:id="rId17"/>
    <p:sldId id="322" r:id="rId18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A00"/>
    <a:srgbClr val="FF26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17"/>
    <p:restoredTop sz="96281"/>
  </p:normalViewPr>
  <p:slideViewPr>
    <p:cSldViewPr snapToGrid="0" snapToObjects="1">
      <p:cViewPr varScale="1">
        <p:scale>
          <a:sx n="118" d="100"/>
          <a:sy n="118" d="100"/>
        </p:scale>
        <p:origin x="664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20" d="100"/>
          <a:sy n="120" d="100"/>
        </p:scale>
        <p:origin x="3896" y="20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4A40DA-08C7-BB58-F68A-199EC9437A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Notes/Handouts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343F8-9D37-0A4B-EBE0-CF0466AD93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7B476B-D3AD-714F-8846-63956C8ADED7}" type="datetime1">
              <a:rPr lang="en-US" smtClean="0"/>
              <a:t>4/17/26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DCA52-0C01-4E11-8048-B6C94B1A6F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Conference, Venue</a:t>
            </a:r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9B50B7-57DA-2D6A-A1ED-3BFEF9B319B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C512C-FCC8-ED49-82F7-31524B930A3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5749819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Notes/Handouts</a:t>
            </a:r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117D7-3DF3-7C47-ABA6-F3169CB90E5E}" type="datetime1">
              <a:rPr lang="en-US" smtClean="0"/>
              <a:t>4/17/26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Conference, Venue</a:t>
            </a:r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D39561-1B60-3441-B8EE-95F5B80ABFC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540033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F45C4-253E-C748-B4AC-74432DEBFA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5317" y="1496187"/>
            <a:ext cx="11641039" cy="229735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accent6"/>
                </a:solidFill>
                <a:latin typeface="Palatino" pitchFamily="2" charset="77"/>
                <a:ea typeface="Palatino" pitchFamily="2" charset="77"/>
              </a:defRPr>
            </a:lvl1pPr>
          </a:lstStyle>
          <a:p>
            <a:r>
              <a:rPr lang="en-NL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F77C69-E5E1-1C4A-9A79-EA9F951EF7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316" y="3887947"/>
            <a:ext cx="7116744" cy="6819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accent6"/>
                </a:solidFill>
                <a:latin typeface="Palatino" pitchFamily="2" charset="77"/>
                <a:ea typeface="Palatino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noProof="0" dirty="0"/>
              <a:t>Subtitle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16E288-1F56-8CFA-8D44-0989CCBF4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33246" y="283041"/>
            <a:ext cx="4325508" cy="77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544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7BA45-31B6-024A-9D23-33973DEA6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33" y="-3370"/>
            <a:ext cx="11844239" cy="69553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D3B5F-731C-0243-99E8-822F2EDC1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63" y="739703"/>
            <a:ext cx="11428675" cy="583810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Clr>
                <a:schemeClr val="accent6"/>
              </a:buClr>
              <a:buFont typeface="Wingdings" pitchFamily="2" charset="2"/>
              <a:buChar char="§"/>
              <a:defRPr sz="1800" b="0" i="0">
                <a:latin typeface="+mn-lt"/>
                <a:ea typeface="Palatino" pitchFamily="2" charset="77"/>
                <a:cs typeface="Arial" panose="020B0604020202020204" pitchFamily="34" charset="0"/>
              </a:defRPr>
            </a:lvl1pPr>
            <a:lvl2pPr marL="514350" indent="-171450">
              <a:buClr>
                <a:schemeClr val="accent6"/>
              </a:buClr>
              <a:buFont typeface="Wingdings" pitchFamily="2" charset="2"/>
              <a:buChar char="§"/>
              <a:defRPr sz="1800" b="0" i="0">
                <a:latin typeface="+mn-lt"/>
                <a:ea typeface="Palatino" pitchFamily="2" charset="77"/>
                <a:cs typeface="Arial" panose="020B0604020202020204" pitchFamily="34" charset="0"/>
              </a:defRPr>
            </a:lvl2pPr>
            <a:lvl3pPr marL="857250" indent="-171450">
              <a:buClr>
                <a:schemeClr val="accent6"/>
              </a:buClr>
              <a:buFont typeface="Wingdings" pitchFamily="2" charset="2"/>
              <a:buChar char="§"/>
              <a:defRPr sz="1800" b="0" i="0">
                <a:latin typeface="+mn-lt"/>
                <a:ea typeface="Palatino" pitchFamily="2" charset="77"/>
                <a:cs typeface="Arial" panose="020B0604020202020204" pitchFamily="34" charset="0"/>
              </a:defRPr>
            </a:lvl3pPr>
            <a:lvl4pPr marL="1200150" indent="-171450">
              <a:buClr>
                <a:schemeClr val="accent6"/>
              </a:buClr>
              <a:buFont typeface="Wingdings" pitchFamily="2" charset="2"/>
              <a:buChar char="§"/>
              <a:defRPr sz="1800" b="0" i="0">
                <a:latin typeface="+mn-lt"/>
                <a:ea typeface="Palatino" pitchFamily="2" charset="77"/>
                <a:cs typeface="Arial" panose="020B0604020202020204" pitchFamily="34" charset="0"/>
              </a:defRPr>
            </a:lvl4pPr>
            <a:lvl5pPr marL="1543050" indent="-171450">
              <a:buClr>
                <a:schemeClr val="accent6"/>
              </a:buClr>
              <a:buFont typeface="Wingdings" pitchFamily="2" charset="2"/>
              <a:buChar char="§"/>
              <a:defRPr sz="1800" b="0" i="0">
                <a:latin typeface="+mn-lt"/>
                <a:ea typeface="Palatino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8DA88-30DC-0008-FC46-3FD6B4FD3106}"/>
              </a:ext>
            </a:extLst>
          </p:cNvPr>
          <p:cNvCxnSpPr>
            <a:cxnSpLocks/>
          </p:cNvCxnSpPr>
          <p:nvPr userDrawn="1"/>
        </p:nvCxnSpPr>
        <p:spPr>
          <a:xfrm>
            <a:off x="372119" y="716688"/>
            <a:ext cx="8589523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F138DC9-B594-7B08-B8A8-FAAAA8DCE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6475" y="6625606"/>
            <a:ext cx="2743200" cy="19605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5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7E02DB99-574C-2F45-AD08-111B2D6C1F61}" type="slidenum">
              <a:rPr lang="en-NL" smtClean="0"/>
              <a:pPr/>
              <a:t>‹#›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95470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BEAE4-B9E3-D244-940A-3862E5ABB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B4B24-E705-8B4B-8B4D-376BFEE1C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4A520DC-0F2E-1957-ED14-424EFC1A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6475" y="6625606"/>
            <a:ext cx="2743200" cy="19605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5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7E02DB99-574C-2F45-AD08-111B2D6C1F61}" type="slidenum">
              <a:rPr lang="en-NL" smtClean="0"/>
              <a:pPr/>
              <a:t>‹#›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61820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2A571-83E0-E742-A06F-6B8CFB3AC3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2867" y="783770"/>
            <a:ext cx="5616933" cy="57880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+mn-lt"/>
                <a:ea typeface="Palatino" pitchFamily="2" charset="77"/>
              </a:defRPr>
            </a:lvl1pPr>
            <a:lvl2pPr>
              <a:defRPr sz="1800">
                <a:latin typeface="+mn-lt"/>
                <a:ea typeface="Palatino" pitchFamily="2" charset="77"/>
              </a:defRPr>
            </a:lvl2pPr>
            <a:lvl3pPr>
              <a:defRPr sz="1800">
                <a:latin typeface="+mn-lt"/>
                <a:ea typeface="Palatino" pitchFamily="2" charset="77"/>
              </a:defRPr>
            </a:lvl3pPr>
            <a:lvl4pPr>
              <a:defRPr sz="1800">
                <a:latin typeface="+mn-lt"/>
                <a:ea typeface="Palatino" pitchFamily="2" charset="77"/>
              </a:defRPr>
            </a:lvl4pPr>
            <a:lvl5pPr>
              <a:defRPr sz="1800">
                <a:latin typeface="+mn-lt"/>
                <a:ea typeface="Palatino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8C79A0-F6AF-1D47-92BE-DC6684E22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783769"/>
            <a:ext cx="5616933" cy="57880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+mn-lt"/>
                <a:ea typeface="Palatino" pitchFamily="2" charset="77"/>
              </a:defRPr>
            </a:lvl1pPr>
            <a:lvl2pPr>
              <a:defRPr sz="1800">
                <a:latin typeface="+mn-lt"/>
                <a:ea typeface="Palatino" pitchFamily="2" charset="77"/>
              </a:defRPr>
            </a:lvl2pPr>
            <a:lvl3pPr>
              <a:defRPr sz="1800">
                <a:latin typeface="+mn-lt"/>
                <a:ea typeface="Palatino" pitchFamily="2" charset="77"/>
              </a:defRPr>
            </a:lvl3pPr>
            <a:lvl4pPr>
              <a:defRPr sz="1800">
                <a:latin typeface="+mn-lt"/>
                <a:ea typeface="Palatino" pitchFamily="2" charset="77"/>
              </a:defRPr>
            </a:lvl4pPr>
            <a:lvl5pPr>
              <a:defRPr sz="1800">
                <a:latin typeface="+mn-lt"/>
                <a:ea typeface="Palatino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405F538-63E2-7E4C-25F3-86CEF504D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6475" y="6625606"/>
            <a:ext cx="2743200" cy="19605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5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7E02DB99-574C-2F45-AD08-111B2D6C1F61}" type="slidenum">
              <a:rPr lang="en-NL" smtClean="0"/>
              <a:pPr/>
              <a:t>‹#›</a:t>
            </a:fld>
            <a:endParaRPr lang="en-NL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87F0D31-0068-7CF8-E89F-540073C4D8E7}"/>
              </a:ext>
            </a:extLst>
          </p:cNvPr>
          <p:cNvCxnSpPr>
            <a:cxnSpLocks/>
          </p:cNvCxnSpPr>
          <p:nvPr userDrawn="1"/>
        </p:nvCxnSpPr>
        <p:spPr>
          <a:xfrm>
            <a:off x="381663" y="6638927"/>
            <a:ext cx="11428675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EB999B7-DB2F-25E2-F3AF-33FF691F4E4F}"/>
              </a:ext>
            </a:extLst>
          </p:cNvPr>
          <p:cNvCxnSpPr>
            <a:cxnSpLocks/>
          </p:cNvCxnSpPr>
          <p:nvPr userDrawn="1"/>
        </p:nvCxnSpPr>
        <p:spPr>
          <a:xfrm>
            <a:off x="372119" y="716688"/>
            <a:ext cx="8589523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E31121A2-7240-73A3-0512-A7B53B796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33" y="-3370"/>
            <a:ext cx="11844239" cy="6955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60766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C4A49-CF41-3F44-AA81-87C8EA54D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256" y="803257"/>
            <a:ext cx="5658320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n-lt"/>
                <a:ea typeface="Palatino" pitchFamily="2" charset="77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ED3BC3-CA5E-7842-8DB6-DB9A7EAFB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256" y="1713737"/>
            <a:ext cx="5658320" cy="48323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+mn-lt"/>
                <a:ea typeface="Palatino" pitchFamily="2" charset="77"/>
              </a:defRPr>
            </a:lvl1pPr>
            <a:lvl2pPr>
              <a:defRPr sz="1800">
                <a:latin typeface="+mn-lt"/>
                <a:ea typeface="Palatino" pitchFamily="2" charset="77"/>
              </a:defRPr>
            </a:lvl2pPr>
            <a:lvl3pPr>
              <a:defRPr sz="1800">
                <a:latin typeface="+mn-lt"/>
                <a:ea typeface="Palatino" pitchFamily="2" charset="77"/>
              </a:defRPr>
            </a:lvl3pPr>
            <a:lvl4pPr>
              <a:defRPr sz="1800">
                <a:latin typeface="+mn-lt"/>
                <a:ea typeface="Palatino" pitchFamily="2" charset="77"/>
              </a:defRPr>
            </a:lvl4pPr>
            <a:lvl5pPr>
              <a:defRPr sz="1800">
                <a:latin typeface="+mn-lt"/>
                <a:ea typeface="Palatino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DC7FC2-9D57-154A-9D16-E19D8E3CC4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803257"/>
            <a:ext cx="5658320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n-lt"/>
                <a:ea typeface="Palatino" pitchFamily="2" charset="77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137C0A-F075-6145-B90F-EE9F0F8228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1713738"/>
            <a:ext cx="5656732" cy="483238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+mn-lt"/>
                <a:ea typeface="Palatino" pitchFamily="2" charset="77"/>
              </a:defRPr>
            </a:lvl1pPr>
            <a:lvl2pPr>
              <a:defRPr sz="1800">
                <a:latin typeface="+mn-lt"/>
                <a:ea typeface="Palatino" pitchFamily="2" charset="77"/>
              </a:defRPr>
            </a:lvl2pPr>
            <a:lvl3pPr>
              <a:defRPr sz="1800">
                <a:latin typeface="+mn-lt"/>
                <a:ea typeface="Palatino" pitchFamily="2" charset="77"/>
              </a:defRPr>
            </a:lvl3pPr>
            <a:lvl4pPr>
              <a:defRPr sz="1800">
                <a:latin typeface="+mn-lt"/>
                <a:ea typeface="Palatino" pitchFamily="2" charset="77"/>
              </a:defRPr>
            </a:lvl4pPr>
            <a:lvl5pPr>
              <a:defRPr sz="1800">
                <a:latin typeface="+mn-lt"/>
                <a:ea typeface="Palatino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BC7F61F-A8E1-4F99-A56E-98803E09E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6475" y="6625606"/>
            <a:ext cx="2743200" cy="19605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5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7E02DB99-574C-2F45-AD08-111B2D6C1F61}" type="slidenum">
              <a:rPr lang="en-NL" smtClean="0"/>
              <a:pPr/>
              <a:t>‹#›</a:t>
            </a:fld>
            <a:endParaRPr lang="en-NL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3474E64-6982-17C3-0D9C-64302F1A1128}"/>
              </a:ext>
            </a:extLst>
          </p:cNvPr>
          <p:cNvCxnSpPr>
            <a:cxnSpLocks/>
          </p:cNvCxnSpPr>
          <p:nvPr userDrawn="1"/>
        </p:nvCxnSpPr>
        <p:spPr>
          <a:xfrm>
            <a:off x="372119" y="716688"/>
            <a:ext cx="8589523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B431C513-AEE6-6884-A9DA-F32384088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33" y="-3370"/>
            <a:ext cx="11844239" cy="6955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07D7C4C-7A44-A35C-ECB1-6CBE4F230F62}"/>
              </a:ext>
            </a:extLst>
          </p:cNvPr>
          <p:cNvCxnSpPr>
            <a:cxnSpLocks/>
          </p:cNvCxnSpPr>
          <p:nvPr userDrawn="1"/>
        </p:nvCxnSpPr>
        <p:spPr>
          <a:xfrm>
            <a:off x="381663" y="6638927"/>
            <a:ext cx="11428675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135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11CF1-A53D-AA4E-B19D-A4397B304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33" y="115502"/>
            <a:ext cx="11844239" cy="695532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NL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46AE161-8E95-F264-12CE-28E3297B6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6475" y="6625606"/>
            <a:ext cx="2743200" cy="19605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5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7E02DB99-574C-2F45-AD08-111B2D6C1F61}" type="slidenum">
              <a:rPr lang="en-NL" smtClean="0"/>
              <a:pPr/>
              <a:t>‹#›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5103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349D340-8DA7-A848-D785-3DA758F31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6475" y="6625606"/>
            <a:ext cx="2743200" cy="19605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5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7E02DB99-574C-2F45-AD08-111B2D6C1F61}" type="slidenum">
              <a:rPr lang="en-NL" smtClean="0"/>
              <a:pPr/>
              <a:t>‹#›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810272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929516-4D6C-C64A-A358-417A3E86E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33" y="115502"/>
            <a:ext cx="11844239" cy="6955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EC754-38D5-0D4F-81CC-90E2B682F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663" y="984738"/>
            <a:ext cx="11428675" cy="5320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L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B18E793-47F3-EEAB-1A2D-7500BF285A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6475" y="6625606"/>
            <a:ext cx="2743200" cy="19605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5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7E02DB99-574C-2F45-AD08-111B2D6C1F61}" type="slidenum">
              <a:rPr lang="en-NL" smtClean="0"/>
              <a:pPr/>
              <a:t>‹#›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88715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accent6"/>
          </a:solidFill>
          <a:latin typeface="Palatino" pitchFamily="2" charset="77"/>
          <a:ea typeface="Palatino" pitchFamily="2" charset="77"/>
          <a:cs typeface="Times New Roman" panose="02020603050405020304" pitchFamily="18" charset="0"/>
        </a:defRPr>
      </a:lvl1pPr>
    </p:titleStyle>
    <p:bodyStyle>
      <a:lvl1pPr marL="171450" indent="-171450" algn="l" defTabSz="685800" rtl="0" eaLnBrk="1" latinLnBrk="0" hangingPunct="1">
        <a:lnSpc>
          <a:spcPct val="15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Palatino" pitchFamily="2" charset="77"/>
          <a:cs typeface="Helvetica Neue" panose="02000503000000020004" pitchFamily="2" charset="0"/>
        </a:defRPr>
      </a:lvl1pPr>
      <a:lvl2pPr marL="514350" indent="-171450" algn="l" defTabSz="685800" rtl="0" eaLnBrk="1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Palatino" pitchFamily="2" charset="77"/>
          <a:cs typeface="Helvetica Neue" panose="02000503000000020004" pitchFamily="2" charset="0"/>
        </a:defRPr>
      </a:lvl2pPr>
      <a:lvl3pPr marL="857250" indent="-171450" algn="l" defTabSz="685800" rtl="0" eaLnBrk="1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Palatino" pitchFamily="2" charset="77"/>
          <a:cs typeface="Helvetica Neue" panose="02000503000000020004" pitchFamily="2" charset="0"/>
        </a:defRPr>
      </a:lvl3pPr>
      <a:lvl4pPr marL="1200150" indent="-171450" algn="l" defTabSz="685800" rtl="0" eaLnBrk="1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Palatino" pitchFamily="2" charset="77"/>
          <a:cs typeface="Helvetica Neue" panose="02000503000000020004" pitchFamily="2" charset="0"/>
        </a:defRPr>
      </a:lvl4pPr>
      <a:lvl5pPr marL="1543050" indent="-171450" algn="l" defTabSz="685800" rtl="0" eaLnBrk="1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Palatino" pitchFamily="2" charset="77"/>
          <a:cs typeface="Helvetica Neue" panose="02000503000000020004" pitchFamily="2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indfulmodeler.substack.com/p/the-architecture-behind-tabpfn" TargetMode="External"/><Relationship Id="rId2" Type="http://schemas.openxmlformats.org/officeDocument/2006/relationships/hyperlink" Target="https://linkedin.com/in/msaharan" TargetMode="Externa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osts/msaharan_20260416-understanding-tfms-ppdpdf-activity-7450580114225938432-9UYN?utm_source=share&amp;utm_medium=member_desktop&amp;rcm=ACoAAC8005UBr31urJ8gF7KXefP2-G8r_HNvI2g" TargetMode="External"/><Relationship Id="rId2" Type="http://schemas.openxmlformats.org/officeDocument/2006/relationships/hyperlink" Target="https://www.linkedin.com/posts/msaharan_20260415-tabular-foundation-models-1pdf-activity-7450221503234621441-QYwS?utm_source=share&amp;utm_medium=member_desktop&amp;rcm=ACoAAC8005UBr31urJ8gF7KXefP2-G8r_HNvI2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indfulmodeler.substack.com/p/the-architecture-behind-tabpfn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191C8-8CBB-F292-8919-982ECEE21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Understanding tabular foundation models: the architecture behind </a:t>
            </a:r>
            <a:r>
              <a:rPr lang="en-GB" dirty="0" err="1"/>
              <a:t>TabPFN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5F6E9-7DD5-EF0B-4E85-5355D3544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Palatino" pitchFamily="2" charset="77"/>
                <a:ea typeface="Palatino" pitchFamily="2" charset="77"/>
                <a:hlinkClick r:id="rId2"/>
              </a:rPr>
              <a:t>Mohit Saharan</a:t>
            </a:r>
            <a:r>
              <a:rPr lang="en-GB" dirty="0">
                <a:latin typeface="Palatino" pitchFamily="2" charset="77"/>
                <a:ea typeface="Palatino" pitchFamily="2" charset="77"/>
              </a:rPr>
              <a:t>, P5, 20260417</a:t>
            </a:r>
          </a:p>
          <a:p>
            <a:r>
              <a:rPr lang="en-GB" dirty="0">
                <a:latin typeface="Palatino" pitchFamily="2" charset="77"/>
                <a:hlinkClick r:id="rId3"/>
              </a:rPr>
              <a:t>Reference</a:t>
            </a:r>
            <a:r>
              <a:rPr lang="en-GB" dirty="0">
                <a:latin typeface="Palatino" pitchFamily="2" charset="77"/>
              </a:rPr>
              <a:t>: “</a:t>
            </a:r>
            <a:r>
              <a:rPr lang="en-GB" dirty="0"/>
              <a:t>The architecture behind </a:t>
            </a:r>
            <a:r>
              <a:rPr lang="en-GB" dirty="0" err="1"/>
              <a:t>TabPFN</a:t>
            </a:r>
            <a:r>
              <a:rPr lang="en-GB" b="1" dirty="0"/>
              <a:t>: </a:t>
            </a:r>
            <a:r>
              <a:rPr lang="en-GB" dirty="0"/>
              <a:t>How transformers learn from entire tables”, C. Molnar.</a:t>
            </a:r>
          </a:p>
          <a:p>
            <a:endParaRPr lang="en-GB" dirty="0"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1443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4D33F-2046-D062-2004-D202BF81A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42A46-C2D4-2C26-D733-9EF6C0150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 the first post (</a:t>
            </a:r>
            <a:r>
              <a:rPr lang="en-GB" dirty="0">
                <a:hlinkClick r:id="rId2"/>
              </a:rPr>
              <a:t>P3</a:t>
            </a:r>
            <a:r>
              <a:rPr lang="en-GB" dirty="0"/>
              <a:t>) about tabular foundation models (TFMs), I collected the vocabulary about their background and their implementation in code. In the second post (</a:t>
            </a:r>
            <a:r>
              <a:rPr lang="en-GB" dirty="0">
                <a:hlinkClick r:id="rId3"/>
              </a:rPr>
              <a:t>P4</a:t>
            </a:r>
            <a:r>
              <a:rPr lang="en-GB" dirty="0"/>
              <a:t>), I spent time reading through through the prior-data fitted networks (PFNs) to get a sense of how these models make predictions on unknown data without training on it.</a:t>
            </a:r>
          </a:p>
          <a:p>
            <a:r>
              <a:rPr lang="en-GB" dirty="0"/>
              <a:t>Before starting to write this post, I skimmed P3 to see if I felt comfortable playing with the code. I didn't feel comfortable. I felt the desire to understand the TFMs a little better to develop an appreciation for their capabilities and intuition for what I could do with them. Also, in P3, I didn't talk about how TFMs work at all because, on that day, I was overwhelmed by all the details. After yesterday's post, I got a step deeper, and today I felt like going one step further in understanding how TFMs work.</a:t>
            </a:r>
          </a:p>
          <a:p>
            <a:r>
              <a:rPr lang="en-GB" dirty="0"/>
              <a:t>In this post, I read through the </a:t>
            </a:r>
            <a:r>
              <a:rPr lang="en-GB" dirty="0">
                <a:hlinkClick r:id="rId4"/>
              </a:rPr>
              <a:t>third post by C Molnar</a:t>
            </a:r>
            <a:r>
              <a:rPr lang="en-GB" dirty="0"/>
              <a:t>, which talks about the architecture of </a:t>
            </a:r>
            <a:r>
              <a:rPr lang="en-GB" dirty="0" err="1"/>
              <a:t>TabPFN</a:t>
            </a:r>
            <a:r>
              <a:rPr lang="en-GB" dirty="0"/>
              <a:t> (v2) and made notes of relevant content. Actually, due to the complexity of </a:t>
            </a:r>
            <a:r>
              <a:rPr lang="en-GB" dirty="0" err="1"/>
              <a:t>TabPFN</a:t>
            </a:r>
            <a:r>
              <a:rPr lang="en-GB" dirty="0"/>
              <a:t>, his post talks about </a:t>
            </a:r>
            <a:r>
              <a:rPr lang="en-GB" dirty="0" err="1"/>
              <a:t>nanoTabPFN</a:t>
            </a:r>
            <a:r>
              <a:rPr lang="en-GB" dirty="0"/>
              <a:t>, which is a lightweight and educational reimplementation of </a:t>
            </a:r>
            <a:r>
              <a:rPr lang="en-GB" dirty="0" err="1"/>
              <a:t>TabPFN</a:t>
            </a:r>
            <a:r>
              <a:rPr lang="en-GB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8337C-9A2C-5EBA-7C5F-4D0D5039D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E02DB99-574C-2F45-AD08-111B2D6C1F61}" type="slidenum">
              <a:rPr lang="en-NL" smtClean="0"/>
              <a:pPr/>
              <a:t>1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632170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2C87-78E8-9FB6-3CA7-874ACB1E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Classical </a:t>
            </a:r>
            <a:r>
              <a:rPr lang="en-GB"/>
              <a:t>ML and Tabular </a:t>
            </a:r>
            <a:r>
              <a:rPr lang="en-GB" dirty="0"/>
              <a:t>Foundation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87A1F-B20C-60B9-805C-AC61A02C8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classical ML, where we use training data to train the model and test data to make predictions, we may think of a row as a fundamental unit.</a:t>
            </a:r>
          </a:p>
          <a:p>
            <a:r>
              <a:rPr lang="en-GB" dirty="0" err="1"/>
              <a:t>TabPFN</a:t>
            </a:r>
            <a:r>
              <a:rPr lang="en-GB" dirty="0"/>
              <a:t> and other tabular foundation models (TFMs) do in-context learning, so at prediction time, they take in the entire dataset, combining training and testing data.</a:t>
            </a:r>
          </a:p>
          <a:p>
            <a:r>
              <a:rPr lang="en-GB" dirty="0"/>
              <a:t>At the same time, the fundamental unit on which </a:t>
            </a:r>
            <a:r>
              <a:rPr lang="en-GB" dirty="0" err="1"/>
              <a:t>TabPFN</a:t>
            </a:r>
            <a:r>
              <a:rPr lang="en-GB" dirty="0"/>
              <a:t> operates is individual cells of the table, or rather, their embedded representations.</a:t>
            </a:r>
          </a:p>
          <a:p>
            <a:r>
              <a:rPr lang="en-GB" dirty="0"/>
              <a:t>This post attempts to explain how to think in terms of cells while working with TFMs.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20C04-E892-162F-2429-13E8E602EB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E02DB99-574C-2F45-AD08-111B2D6C1F61}" type="slidenum">
              <a:rPr lang="en-NL" smtClean="0"/>
              <a:pPr/>
              <a:t>2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079499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C76C0-36F0-4681-2889-78CCB5D2B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 cells become computational units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DDDD8-8498-8721-5802-2E81A4CEE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23856" y="6625606"/>
            <a:ext cx="2057400" cy="196059"/>
          </a:xfrm>
        </p:spPr>
        <p:txBody>
          <a:bodyPr/>
          <a:lstStyle/>
          <a:p>
            <a:fld id="{7E02DB99-574C-2F45-AD08-111B2D6C1F61}" type="slidenum">
              <a:rPr lang="en-NL" smtClean="0"/>
              <a:pPr/>
              <a:t>3</a:t>
            </a:fld>
            <a:endParaRPr lang="en-N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5CB3AE-0ECA-A216-89DD-086FCDE0BE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716"/>
          <a:stretch>
            <a:fillRect/>
          </a:stretch>
        </p:blipFill>
        <p:spPr>
          <a:xfrm>
            <a:off x="287356" y="2401882"/>
            <a:ext cx="6055135" cy="6516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1F1990-E3FC-62B7-497C-B356E7F185A7}"/>
              </a:ext>
            </a:extLst>
          </p:cNvPr>
          <p:cNvSpPr txBox="1"/>
          <p:nvPr/>
        </p:nvSpPr>
        <p:spPr>
          <a:xfrm>
            <a:off x="287356" y="965750"/>
            <a:ext cx="4380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dirty="0" err="1">
                <a:ea typeface="Palatino" pitchFamily="2" charset="77"/>
                <a:cs typeface="Helvetica Neue" panose="02000503000000020004" pitchFamily="2" charset="0"/>
              </a:rPr>
              <a:t>TabPFN</a:t>
            </a:r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 and other TFMs use the transformer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8B328C-1336-F6FE-0FB0-E3A3676F4CB1}"/>
              </a:ext>
            </a:extLst>
          </p:cNvPr>
          <p:cNvSpPr txBox="1"/>
          <p:nvPr/>
        </p:nvSpPr>
        <p:spPr>
          <a:xfrm>
            <a:off x="1725430" y="1645362"/>
            <a:ext cx="464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Designed for token-based sequential data (text)</a:t>
            </a: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A1267E88-46AB-7FF3-E8F3-AEE48564594E}"/>
              </a:ext>
            </a:extLst>
          </p:cNvPr>
          <p:cNvSpPr/>
          <p:nvPr/>
        </p:nvSpPr>
        <p:spPr>
          <a:xfrm rot="5400000">
            <a:off x="3761552" y="943562"/>
            <a:ext cx="262174" cy="1045214"/>
          </a:xfrm>
          <a:prstGeom prst="rightBrac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19A58C0-ED2E-5E45-74FE-2F602349AE9E}"/>
              </a:ext>
            </a:extLst>
          </p:cNvPr>
          <p:cNvCxnSpPr>
            <a:cxnSpLocks/>
          </p:cNvCxnSpPr>
          <p:nvPr/>
        </p:nvCxnSpPr>
        <p:spPr>
          <a:xfrm>
            <a:off x="3722914" y="2014694"/>
            <a:ext cx="0" cy="38718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9FF1D2C2-2161-90F9-D554-A20EC3C5A2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058"/>
          <a:stretch>
            <a:fillRect/>
          </a:stretch>
        </p:blipFill>
        <p:spPr>
          <a:xfrm>
            <a:off x="342464" y="4849354"/>
            <a:ext cx="6055135" cy="673564"/>
          </a:xfrm>
          <a:prstGeom prst="rect">
            <a:avLst/>
          </a:prstGeom>
        </p:spPr>
      </p:pic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22B9D54B-B8E4-C5FC-8BE8-6558FA6B5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861" y="3182618"/>
            <a:ext cx="11428675" cy="1660689"/>
          </a:xfrm>
        </p:spPr>
        <p:txBody>
          <a:bodyPr/>
          <a:lstStyle/>
          <a:p>
            <a:r>
              <a:rPr lang="en-GB" dirty="0"/>
              <a:t>I</a:t>
            </a:r>
            <a:r>
              <a:rPr lang="en-GB" dirty="0">
                <a:cs typeface="Helvetica Neue" panose="02000503000000020004" pitchFamily="2" charset="0"/>
              </a:rPr>
              <a:t>n LLMs, the tokenized text gets embedded (each token represented by a vector).</a:t>
            </a:r>
          </a:p>
          <a:p>
            <a:r>
              <a:rPr lang="en-GB" dirty="0"/>
              <a:t>T</a:t>
            </a:r>
            <a:r>
              <a:rPr lang="en-GB" dirty="0">
                <a:cs typeface="Helvetica Neue" panose="02000503000000020004" pitchFamily="2" charset="0"/>
              </a:rPr>
              <a:t>ransformer based architectures operate on these vectorized representations of these tokens.</a:t>
            </a:r>
          </a:p>
          <a:p>
            <a:r>
              <a:rPr lang="en-GB" dirty="0">
                <a:cs typeface="Helvetica Neue" panose="02000503000000020004" pitchFamily="2" charset="0"/>
              </a:rPr>
              <a:t>The attention mechanism acts as a way of querying the input tokens for predicting the output tokens.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9046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CDB18-87BE-5439-9D93-70C73DF09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B0414-9B9B-C2C9-672D-2576DAE6D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 cells become computational units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407E-4936-2B54-83B2-325620EEB5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23856" y="6625606"/>
            <a:ext cx="2057400" cy="196059"/>
          </a:xfrm>
        </p:spPr>
        <p:txBody>
          <a:bodyPr/>
          <a:lstStyle/>
          <a:p>
            <a:fld id="{7E02DB99-574C-2F45-AD08-111B2D6C1F61}" type="slidenum">
              <a:rPr lang="en-NL" smtClean="0"/>
              <a:pPr/>
              <a:t>4</a:t>
            </a:fld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9DC454-7FB1-8D04-BB65-760598D3B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00" y="2215904"/>
            <a:ext cx="7772400" cy="398618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80E98B8-2F45-38EB-2238-203CAF6CA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63" y="739703"/>
            <a:ext cx="11428675" cy="5838109"/>
          </a:xfrm>
        </p:spPr>
        <p:txBody>
          <a:bodyPr/>
          <a:lstStyle/>
          <a:p>
            <a:r>
              <a:rPr lang="en-GB" dirty="0"/>
              <a:t>T</a:t>
            </a:r>
            <a:r>
              <a:rPr lang="en-GB" dirty="0">
                <a:cs typeface="Helvetica Neue" panose="02000503000000020004" pitchFamily="2" charset="0"/>
              </a:rPr>
              <a:t>ables contain scalars, not tokens </a:t>
            </a:r>
            <a:r>
              <a:rPr lang="en-GB" dirty="0">
                <a:cs typeface="Helvetica Neue" panose="02000503000000020004" pitchFamily="2" charset="0"/>
                <a:sym typeface="Wingdings" pitchFamily="2" charset="2"/>
              </a:rPr>
              <a:t> need to rethink tables to apply transformer to tables.</a:t>
            </a:r>
            <a:endParaRPr lang="en-GB" dirty="0"/>
          </a:p>
          <a:p>
            <a:r>
              <a:rPr lang="en-GB" dirty="0"/>
              <a:t>F</a:t>
            </a:r>
            <a:r>
              <a:rPr lang="en-GB" dirty="0">
                <a:cs typeface="Helvetica Neue" panose="02000503000000020004" pitchFamily="2" charset="0"/>
              </a:rPr>
              <a:t>or </a:t>
            </a:r>
            <a:r>
              <a:rPr lang="en-GB" dirty="0" err="1">
                <a:cs typeface="Helvetica Neue" panose="02000503000000020004" pitchFamily="2" charset="0"/>
              </a:rPr>
              <a:t>TabPFN</a:t>
            </a:r>
            <a:r>
              <a:rPr lang="en-GB" dirty="0">
                <a:cs typeface="Helvetica Neue" panose="02000503000000020004" pitchFamily="2" charset="0"/>
              </a:rPr>
              <a:t>, these fundamental units are the table cells (feature=value or target=value).</a:t>
            </a:r>
          </a:p>
        </p:txBody>
      </p:sp>
    </p:spTree>
    <p:extLst>
      <p:ext uri="{BB962C8B-B14F-4D97-AF65-F5344CB8AC3E}">
        <p14:creationId xmlns:p14="http://schemas.microsoft.com/office/powerpoint/2010/main" val="1116940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E09D-BF27-B270-C990-82C54E6AB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TabPFN</a:t>
            </a:r>
            <a:r>
              <a:rPr lang="en-GB" dirty="0"/>
              <a:t> is an encoder-decoder transformer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181D0-FB29-E9C0-8D9F-556F07941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23856" y="6625606"/>
            <a:ext cx="2057400" cy="196059"/>
          </a:xfrm>
        </p:spPr>
        <p:txBody>
          <a:bodyPr/>
          <a:lstStyle/>
          <a:p>
            <a:fld id="{7E02DB99-574C-2F45-AD08-111B2D6C1F61}" type="slidenum">
              <a:rPr lang="en-NL" smtClean="0"/>
              <a:pPr/>
              <a:t>5</a:t>
            </a:fld>
            <a:endParaRPr lang="en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ABB6CA-6137-6AF0-2427-8716C3A18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126" y="2683709"/>
            <a:ext cx="8327790" cy="13592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7BE154-428C-F9A2-1A96-74331B8CF8AF}"/>
              </a:ext>
            </a:extLst>
          </p:cNvPr>
          <p:cNvSpPr txBox="1"/>
          <p:nvPr/>
        </p:nvSpPr>
        <p:spPr>
          <a:xfrm>
            <a:off x="3977827" y="1259945"/>
            <a:ext cx="2558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Pre-processes table cells and embeds them (both features and target, and training and test)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08FF5DD-528A-E8CD-60D0-533807964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43FD59-26E7-B38D-A489-76F790F5CF24}"/>
              </a:ext>
            </a:extLst>
          </p:cNvPr>
          <p:cNvSpPr txBox="1"/>
          <p:nvPr/>
        </p:nvSpPr>
        <p:spPr>
          <a:xfrm>
            <a:off x="6245147" y="4271842"/>
            <a:ext cx="22861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Take the embeddings of each table cell and repeatedly enrich them with the help of data-point-wise and feature-wise attention.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DB6D6D5-CEC7-4AD5-D98A-966B9EADE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8686" y="365826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420EC9-A266-1B8C-6AA2-168241CF7FE4}"/>
              </a:ext>
            </a:extLst>
          </p:cNvPr>
          <p:cNvSpPr txBox="1"/>
          <p:nvPr/>
        </p:nvSpPr>
        <p:spPr>
          <a:xfrm>
            <a:off x="7821582" y="1299346"/>
            <a:ext cx="2558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Maps the high-dimensional embedding back to actual values to predict the test data.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65508A5E-C49B-8E2D-BC39-DA1445A7C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-322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285A65-C891-388C-148F-268E20F8C189}"/>
              </a:ext>
            </a:extLst>
          </p:cNvPr>
          <p:cNvSpPr txBox="1"/>
          <p:nvPr/>
        </p:nvSpPr>
        <p:spPr>
          <a:xfrm>
            <a:off x="2177767" y="5252084"/>
            <a:ext cx="40611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After encoder: N x P x E Tensor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E: embedding length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Structure retained at each transformer step with updated embeddings for each cell.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FFACAE48-6427-D25A-19D2-517E4556BDEC}"/>
              </a:ext>
            </a:extLst>
          </p:cNvPr>
          <p:cNvSpPr/>
          <p:nvPr/>
        </p:nvSpPr>
        <p:spPr>
          <a:xfrm>
            <a:off x="2403727" y="2709469"/>
            <a:ext cx="133847" cy="1359282"/>
          </a:xfrm>
          <a:prstGeom prst="leftBrac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EB4D5-6342-2BAE-7343-F4D835FE224A}"/>
              </a:ext>
            </a:extLst>
          </p:cNvPr>
          <p:cNvSpPr txBox="1"/>
          <p:nvPr/>
        </p:nvSpPr>
        <p:spPr>
          <a:xfrm>
            <a:off x="1998069" y="3163295"/>
            <a:ext cx="491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C35BDA-1077-8173-F346-5F82365CEABA}"/>
              </a:ext>
            </a:extLst>
          </p:cNvPr>
          <p:cNvSpPr txBox="1"/>
          <p:nvPr/>
        </p:nvSpPr>
        <p:spPr>
          <a:xfrm>
            <a:off x="3065683" y="4305388"/>
            <a:ext cx="1488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P (features)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95FE2955-C004-1B3F-AA7A-3A53610B38FF}"/>
              </a:ext>
            </a:extLst>
          </p:cNvPr>
          <p:cNvSpPr/>
          <p:nvPr/>
        </p:nvSpPr>
        <p:spPr>
          <a:xfrm rot="16200000">
            <a:off x="3168845" y="3525276"/>
            <a:ext cx="133847" cy="1359282"/>
          </a:xfrm>
          <a:prstGeom prst="leftBrac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40D986-C017-0DB6-A26D-79EDBEC31524}"/>
              </a:ext>
            </a:extLst>
          </p:cNvPr>
          <p:cNvSpPr txBox="1"/>
          <p:nvPr/>
        </p:nvSpPr>
        <p:spPr>
          <a:xfrm>
            <a:off x="554474" y="3425692"/>
            <a:ext cx="2558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Rows (train &amp; test)</a:t>
            </a:r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3CAC2D14-5CD1-C942-1DEB-46F9F8756E1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733059" y="3764218"/>
            <a:ext cx="1621300" cy="1351502"/>
          </a:xfrm>
          <a:prstGeom prst="curvedConnector3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D718405-4394-AA3F-20C2-0DAC29287F1B}"/>
              </a:ext>
            </a:extLst>
          </p:cNvPr>
          <p:cNvCxnSpPr>
            <a:cxnSpLocks/>
          </p:cNvCxnSpPr>
          <p:nvPr/>
        </p:nvCxnSpPr>
        <p:spPr>
          <a:xfrm>
            <a:off x="5130891" y="2499675"/>
            <a:ext cx="0" cy="4295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C18A460-5451-782C-4D61-DBA4287E6F50}"/>
              </a:ext>
            </a:extLst>
          </p:cNvPr>
          <p:cNvCxnSpPr>
            <a:cxnSpLocks/>
          </p:cNvCxnSpPr>
          <p:nvPr/>
        </p:nvCxnSpPr>
        <p:spPr>
          <a:xfrm flipV="1">
            <a:off x="7188291" y="3982901"/>
            <a:ext cx="0" cy="2923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C372D9B-515B-B47F-7F58-A586ED1F797E}"/>
              </a:ext>
            </a:extLst>
          </p:cNvPr>
          <p:cNvSpPr txBox="1"/>
          <p:nvPr/>
        </p:nvSpPr>
        <p:spPr>
          <a:xfrm>
            <a:off x="9456440" y="4313051"/>
            <a:ext cx="23639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Maps the N x P x E Tensor to a Tensor of size </a:t>
            </a:r>
            <a:r>
              <a:rPr lang="en-GB" dirty="0" err="1">
                <a:ea typeface="Palatino" pitchFamily="2" charset="77"/>
                <a:cs typeface="Helvetica Neue" panose="02000503000000020004" pitchFamily="2" charset="0"/>
              </a:rPr>
              <a:t>N_test</a:t>
            </a:r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 x 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>
                <a:ea typeface="Palatino" pitchFamily="2" charset="77"/>
                <a:cs typeface="Helvetica Neue" panose="02000503000000020004" pitchFamily="2" charset="0"/>
              </a:rPr>
              <a:t>N_test</a:t>
            </a:r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: # of test data points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O: output dimension</a:t>
            </a:r>
          </a:p>
        </p:txBody>
      </p: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3BAE53E0-90DA-6C7A-4D61-D12EA9D0CEE8}"/>
              </a:ext>
            </a:extLst>
          </p:cNvPr>
          <p:cNvCxnSpPr>
            <a:cxnSpLocks/>
          </p:cNvCxnSpPr>
          <p:nvPr/>
        </p:nvCxnSpPr>
        <p:spPr>
          <a:xfrm rot="16200000" flipV="1">
            <a:off x="9748863" y="3674528"/>
            <a:ext cx="772761" cy="488959"/>
          </a:xfrm>
          <a:prstGeom prst="curvedConnector3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3F85BF6-AD02-579E-48D5-E2A5E44FB370}"/>
              </a:ext>
            </a:extLst>
          </p:cNvPr>
          <p:cNvCxnSpPr>
            <a:cxnSpLocks/>
          </p:cNvCxnSpPr>
          <p:nvPr/>
        </p:nvCxnSpPr>
        <p:spPr>
          <a:xfrm>
            <a:off x="8979177" y="2468926"/>
            <a:ext cx="0" cy="4295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2B2DC404-2D76-6F6B-98B4-0B57737BA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63" y="739703"/>
            <a:ext cx="11428675" cy="5838109"/>
          </a:xfrm>
        </p:spPr>
        <p:txBody>
          <a:bodyPr/>
          <a:lstStyle/>
          <a:p>
            <a:pPr marL="0" indent="0">
              <a:buNone/>
            </a:pPr>
            <a:r>
              <a:rPr lang="en-GB" dirty="0" err="1"/>
              <a:t>TabPFN</a:t>
            </a:r>
            <a:r>
              <a:rPr lang="en-GB" dirty="0"/>
              <a:t> and many other TFMs follow an encoder-decoder transformer architecture</a:t>
            </a:r>
            <a:r>
              <a:rPr lang="en-GB" dirty="0">
                <a:cs typeface="Helvetica Neue" panose="02000503000000020004" pitchFamily="2" charset="0"/>
                <a:sym typeface="Wingdings" pitchFamily="2" charset="2"/>
              </a:rPr>
              <a:t> with this high-level structure.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5751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B2486-6F7A-0D53-68A6-E067DC4D0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encoder pre-processes and embeds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9427E-B052-864D-4CB2-ADDBB286A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23856" y="6625606"/>
            <a:ext cx="2057400" cy="196059"/>
          </a:xfrm>
        </p:spPr>
        <p:txBody>
          <a:bodyPr/>
          <a:lstStyle/>
          <a:p>
            <a:fld id="{7E02DB99-574C-2F45-AD08-111B2D6C1F61}" type="slidenum">
              <a:rPr lang="en-NL" smtClean="0"/>
              <a:pPr/>
              <a:t>6</a:t>
            </a:fld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174FBE-BB12-C806-78DC-980B3D3CA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204" y="936069"/>
            <a:ext cx="8327790" cy="1359282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84551F4-1359-A9BC-0CB6-B48633E447B9}"/>
              </a:ext>
            </a:extLst>
          </p:cNvPr>
          <p:cNvSpPr/>
          <p:nvPr/>
        </p:nvSpPr>
        <p:spPr>
          <a:xfrm>
            <a:off x="4314848" y="935268"/>
            <a:ext cx="1981200" cy="1470505"/>
          </a:xfrm>
          <a:prstGeom prst="roundRect">
            <a:avLst/>
          </a:prstGeom>
          <a:ln w="25400"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E400850B-6115-B50F-DDA4-82289D7E4DE6}"/>
              </a:ext>
            </a:extLst>
          </p:cNvPr>
          <p:cNvSpPr/>
          <p:nvPr/>
        </p:nvSpPr>
        <p:spPr>
          <a:xfrm>
            <a:off x="2525357" y="934771"/>
            <a:ext cx="133847" cy="1359282"/>
          </a:xfrm>
          <a:prstGeom prst="leftBrac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D12678-733D-1445-BF6A-513B878BB46C}"/>
              </a:ext>
            </a:extLst>
          </p:cNvPr>
          <p:cNvSpPr txBox="1"/>
          <p:nvPr/>
        </p:nvSpPr>
        <p:spPr>
          <a:xfrm>
            <a:off x="2119699" y="1388597"/>
            <a:ext cx="491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95468B-C3FA-18A8-4867-8E5D5A81F837}"/>
              </a:ext>
            </a:extLst>
          </p:cNvPr>
          <p:cNvSpPr txBox="1"/>
          <p:nvPr/>
        </p:nvSpPr>
        <p:spPr>
          <a:xfrm>
            <a:off x="3187313" y="2530690"/>
            <a:ext cx="1488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P (features)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C867BD05-7565-ED9F-BAF4-D7A89A824732}"/>
              </a:ext>
            </a:extLst>
          </p:cNvPr>
          <p:cNvSpPr/>
          <p:nvPr/>
        </p:nvSpPr>
        <p:spPr>
          <a:xfrm rot="16200000">
            <a:off x="3290475" y="1750578"/>
            <a:ext cx="133847" cy="1359282"/>
          </a:xfrm>
          <a:prstGeom prst="leftBrac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56FF22-8F77-1C94-9C5E-739EABCCBEC2}"/>
              </a:ext>
            </a:extLst>
          </p:cNvPr>
          <p:cNvSpPr txBox="1"/>
          <p:nvPr/>
        </p:nvSpPr>
        <p:spPr>
          <a:xfrm>
            <a:off x="676104" y="1650994"/>
            <a:ext cx="2558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Rows (train &amp; test)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EAB3E142-5CA3-168A-B50A-B61DCE3AC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63" y="2859599"/>
            <a:ext cx="11428675" cy="3718213"/>
          </a:xfrm>
        </p:spPr>
        <p:txBody>
          <a:bodyPr/>
          <a:lstStyle/>
          <a:p>
            <a:r>
              <a:rPr lang="en-GB" dirty="0"/>
              <a:t>Push the entire training and test data with features and targets down the neural network.</a:t>
            </a:r>
          </a:p>
          <a:p>
            <a:r>
              <a:rPr lang="en-GB" dirty="0"/>
              <a:t>First step: pre-processing and embeddings, which works differently for feature and target cells.</a:t>
            </a:r>
          </a:p>
        </p:txBody>
      </p:sp>
    </p:spTree>
    <p:extLst>
      <p:ext uri="{BB962C8B-B14F-4D97-AF65-F5344CB8AC3E}">
        <p14:creationId xmlns:p14="http://schemas.microsoft.com/office/powerpoint/2010/main" val="3125601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23B34-5618-1D57-6DC6-82208FC34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9CDA4-C246-7513-BC3D-B6FF43CBD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encoder pre-processes and embeds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96494-EDE3-9BBE-E0DB-C33F1B87F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23856" y="6625606"/>
            <a:ext cx="2057400" cy="196059"/>
          </a:xfrm>
        </p:spPr>
        <p:txBody>
          <a:bodyPr/>
          <a:lstStyle/>
          <a:p>
            <a:fld id="{7E02DB99-574C-2F45-AD08-111B2D6C1F61}" type="slidenum">
              <a:rPr lang="en-NL" smtClean="0"/>
              <a:pPr/>
              <a:t>7</a:t>
            </a:fld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56C4F-E0E0-9C9C-7FF9-39C64D82F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63" y="827315"/>
            <a:ext cx="11428675" cy="1017120"/>
          </a:xfrm>
        </p:spPr>
        <p:txBody>
          <a:bodyPr/>
          <a:lstStyle/>
          <a:p>
            <a:r>
              <a:rPr lang="en-GB" dirty="0"/>
              <a:t>Push the entire training and test data with features and targets down the neural network.</a:t>
            </a:r>
          </a:p>
          <a:p>
            <a:r>
              <a:rPr lang="en-GB" dirty="0"/>
              <a:t>First step: pre-processing and embeddings, which works differently for feature and target cells.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88C324-3070-8CFA-5D17-203962B6D6D8}"/>
              </a:ext>
            </a:extLst>
          </p:cNvPr>
          <p:cNvSpPr txBox="1">
            <a:spLocks/>
          </p:cNvSpPr>
          <p:nvPr/>
        </p:nvSpPr>
        <p:spPr>
          <a:xfrm>
            <a:off x="381662" y="1844435"/>
            <a:ext cx="5500209" cy="4781171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171450" indent="-17145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Clr>
                <a:schemeClr val="accent6"/>
              </a:buClr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+mn-lt"/>
                <a:ea typeface="Palatino" pitchFamily="2" charset="77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50000"/>
              </a:lnSpc>
              <a:spcBef>
                <a:spcPts val="375"/>
              </a:spcBef>
              <a:buClr>
                <a:schemeClr val="accent6"/>
              </a:buClr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+mn-lt"/>
                <a:ea typeface="Palatino" pitchFamily="2" charset="77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50000"/>
              </a:lnSpc>
              <a:spcBef>
                <a:spcPts val="375"/>
              </a:spcBef>
              <a:buClr>
                <a:schemeClr val="accent6"/>
              </a:buClr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+mn-lt"/>
                <a:ea typeface="Palatino" pitchFamily="2" charset="77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50000"/>
              </a:lnSpc>
              <a:spcBef>
                <a:spcPts val="375"/>
              </a:spcBef>
              <a:buClr>
                <a:schemeClr val="accent6"/>
              </a:buClr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+mn-lt"/>
                <a:ea typeface="Palatino" pitchFamily="2" charset="77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50000"/>
              </a:lnSpc>
              <a:spcBef>
                <a:spcPts val="375"/>
              </a:spcBef>
              <a:buClr>
                <a:schemeClr val="accent6"/>
              </a:buClr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+mn-lt"/>
                <a:ea typeface="Palatino" pitchFamily="2" charset="77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The feature encoder pre-processes and embeds feature cells:</a:t>
            </a:r>
          </a:p>
          <a:p>
            <a:r>
              <a:rPr lang="en-GB" dirty="0"/>
              <a:t>All features are normalized based on mean and std. dev. of training data.</a:t>
            </a:r>
          </a:p>
          <a:p>
            <a:r>
              <a:rPr lang="en-GB" dirty="0"/>
              <a:t>Values below -100 and above 100 are clipped.</a:t>
            </a:r>
          </a:p>
          <a:p>
            <a:r>
              <a:rPr lang="en-GB" dirty="0"/>
              <a:t>Features are linearly embedded.</a:t>
            </a:r>
          </a:p>
          <a:p>
            <a:pPr lvl="1"/>
            <a:r>
              <a:rPr lang="en-GB" dirty="0"/>
              <a:t>Before embedding, cell’s value is a scalar.</a:t>
            </a:r>
          </a:p>
          <a:p>
            <a:pPr lvl="1"/>
            <a:r>
              <a:rPr lang="en-GB" dirty="0"/>
              <a:t>During embedding: a weight vector with length of embedding size E is multiplied with each scalar and a bias is added,</a:t>
            </a:r>
            <a:r>
              <a:rPr lang="en-GB" dirty="0">
                <a:sym typeface="Wingdings" pitchFamily="2" charset="2"/>
              </a:rPr>
              <a:t> producing E-length embedding vector for each cell. Weights are same for all feature cells</a:t>
            </a:r>
            <a:endParaRPr lang="en-GB" dirty="0"/>
          </a:p>
          <a:p>
            <a:pPr lvl="1"/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087953-31C3-DECF-0E85-F43BDBB6A305}"/>
              </a:ext>
            </a:extLst>
          </p:cNvPr>
          <p:cNvSpPr txBox="1">
            <a:spLocks/>
          </p:cNvSpPr>
          <p:nvPr/>
        </p:nvSpPr>
        <p:spPr>
          <a:xfrm>
            <a:off x="6095999" y="1844435"/>
            <a:ext cx="5714337" cy="4781171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Clr>
                <a:schemeClr val="accent6"/>
              </a:buClr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+mn-lt"/>
                <a:ea typeface="Palatino" pitchFamily="2" charset="77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50000"/>
              </a:lnSpc>
              <a:spcBef>
                <a:spcPts val="375"/>
              </a:spcBef>
              <a:buClr>
                <a:schemeClr val="accent6"/>
              </a:buClr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+mn-lt"/>
                <a:ea typeface="Palatino" pitchFamily="2" charset="77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50000"/>
              </a:lnSpc>
              <a:spcBef>
                <a:spcPts val="375"/>
              </a:spcBef>
              <a:buClr>
                <a:schemeClr val="accent6"/>
              </a:buClr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+mn-lt"/>
                <a:ea typeface="Palatino" pitchFamily="2" charset="77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50000"/>
              </a:lnSpc>
              <a:spcBef>
                <a:spcPts val="375"/>
              </a:spcBef>
              <a:buClr>
                <a:schemeClr val="accent6"/>
              </a:buClr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+mn-lt"/>
                <a:ea typeface="Palatino" pitchFamily="2" charset="77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50000"/>
              </a:lnSpc>
              <a:spcBef>
                <a:spcPts val="375"/>
              </a:spcBef>
              <a:buClr>
                <a:schemeClr val="accent6"/>
              </a:buClr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+mn-lt"/>
                <a:ea typeface="Palatino" pitchFamily="2" charset="77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The target encoder does two things:</a:t>
            </a:r>
          </a:p>
          <a:p>
            <a:r>
              <a:rPr lang="en-GB" dirty="0"/>
              <a:t>The test </a:t>
            </a:r>
            <a:r>
              <a:rPr lang="en-GB" dirty="0" err="1"/>
              <a:t>valyes</a:t>
            </a:r>
            <a:r>
              <a:rPr lang="en-GB" dirty="0"/>
              <a:t> (</a:t>
            </a:r>
            <a:r>
              <a:rPr lang="en-GB" dirty="0" err="1"/>
              <a:t>y_test</a:t>
            </a:r>
            <a:r>
              <a:rPr lang="en-GB" dirty="0"/>
              <a:t>) are filled in with the mean of the target in the training data (mean(</a:t>
            </a:r>
            <a:r>
              <a:rPr lang="en-GB" dirty="0" err="1"/>
              <a:t>y_train</a:t>
            </a:r>
            <a:r>
              <a:rPr lang="en-GB" dirty="0"/>
              <a:t>)). Done for providing a starting value and not for imputation.</a:t>
            </a:r>
          </a:p>
          <a:p>
            <a:r>
              <a:rPr lang="en-GB" dirty="0"/>
              <a:t>The target values are linearly embedded, but with a weight vector different from the linear feature embedding.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9281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8DEB4-08D7-C56E-F981-B4BA8245C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94F40-B9F0-00F9-8EAA-2378D0332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encoder pre-processes and embeds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4FBD8-23F4-9472-4AB5-C62F5CC476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23856" y="6625606"/>
            <a:ext cx="2057400" cy="196059"/>
          </a:xfrm>
        </p:spPr>
        <p:txBody>
          <a:bodyPr/>
          <a:lstStyle/>
          <a:p>
            <a:fld id="{7E02DB99-574C-2F45-AD08-111B2D6C1F61}" type="slidenum">
              <a:rPr lang="en-NL" smtClean="0"/>
              <a:pPr/>
              <a:t>8</a:t>
            </a:fld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4289C6-E984-8322-712D-6030D043E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204" y="936069"/>
            <a:ext cx="8327790" cy="1359282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D5E8740-6B7F-308C-ED01-BFCA931195C6}"/>
              </a:ext>
            </a:extLst>
          </p:cNvPr>
          <p:cNvSpPr/>
          <p:nvPr/>
        </p:nvSpPr>
        <p:spPr>
          <a:xfrm>
            <a:off x="4314848" y="935268"/>
            <a:ext cx="1981200" cy="1470505"/>
          </a:xfrm>
          <a:prstGeom prst="roundRect">
            <a:avLst/>
          </a:prstGeom>
          <a:ln w="25400"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9D0AA5EC-6D13-ADF3-90BE-9066A27D345B}"/>
              </a:ext>
            </a:extLst>
          </p:cNvPr>
          <p:cNvSpPr/>
          <p:nvPr/>
        </p:nvSpPr>
        <p:spPr>
          <a:xfrm>
            <a:off x="2525357" y="934771"/>
            <a:ext cx="133847" cy="1359282"/>
          </a:xfrm>
          <a:prstGeom prst="leftBrac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79CBE8-B897-F069-21E3-68829CB47255}"/>
              </a:ext>
            </a:extLst>
          </p:cNvPr>
          <p:cNvSpPr txBox="1"/>
          <p:nvPr/>
        </p:nvSpPr>
        <p:spPr>
          <a:xfrm>
            <a:off x="2119699" y="1388597"/>
            <a:ext cx="491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DD7A75-511D-4E38-F3C8-AD3DF810EBDB}"/>
              </a:ext>
            </a:extLst>
          </p:cNvPr>
          <p:cNvSpPr txBox="1"/>
          <p:nvPr/>
        </p:nvSpPr>
        <p:spPr>
          <a:xfrm>
            <a:off x="3187313" y="2530690"/>
            <a:ext cx="1488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P (features)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199EF5B6-3742-A211-55B7-18100BC3274E}"/>
              </a:ext>
            </a:extLst>
          </p:cNvPr>
          <p:cNvSpPr/>
          <p:nvPr/>
        </p:nvSpPr>
        <p:spPr>
          <a:xfrm rot="16200000">
            <a:off x="3290475" y="1750578"/>
            <a:ext cx="133847" cy="1359282"/>
          </a:xfrm>
          <a:prstGeom prst="leftBrac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7F9335-20F3-02B0-3580-28A75F951892}"/>
              </a:ext>
            </a:extLst>
          </p:cNvPr>
          <p:cNvSpPr txBox="1"/>
          <p:nvPr/>
        </p:nvSpPr>
        <p:spPr>
          <a:xfrm>
            <a:off x="676104" y="1650994"/>
            <a:ext cx="2558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Rows (train &amp; test)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293C30DD-259C-B0E7-96A9-EE9FDD26A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63" y="2859599"/>
            <a:ext cx="11428675" cy="3718213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Push the entire training and test data with features and targets down the neural network.</a:t>
            </a:r>
          </a:p>
          <a:p>
            <a:r>
              <a:rPr lang="en-GB" dirty="0"/>
              <a:t>First step: pre-processing and embeddings, which works differently for feature and target cells.</a:t>
            </a:r>
          </a:p>
          <a:p>
            <a:r>
              <a:rPr lang="en-GB" dirty="0" err="1"/>
              <a:t>nanoTabPFN</a:t>
            </a:r>
            <a:r>
              <a:rPr lang="en-GB" dirty="0"/>
              <a:t> has no positional embedding. </a:t>
            </a:r>
          </a:p>
          <a:p>
            <a:r>
              <a:rPr lang="en-GB" dirty="0" err="1"/>
              <a:t>TabPFN</a:t>
            </a:r>
            <a:r>
              <a:rPr lang="en-GB" dirty="0"/>
              <a:t> has a version of positional embedding for features (not the target).</a:t>
            </a:r>
          </a:p>
          <a:p>
            <a:pPr lvl="1"/>
            <a:r>
              <a:rPr lang="en-GB" dirty="0"/>
              <a:t>After the linear embedding, the encoder adds a random vector to the cells of each feature.</a:t>
            </a:r>
          </a:p>
          <a:p>
            <a:pPr lvl="1"/>
            <a:r>
              <a:rPr lang="en-GB" dirty="0"/>
              <a:t>This random vector is constructed via a projection, part learned, part random.</a:t>
            </a:r>
          </a:p>
          <a:p>
            <a:pPr lvl="1"/>
            <a:r>
              <a:rPr lang="en-GB" dirty="0"/>
              <a:t>The positional embedding helps </a:t>
            </a:r>
            <a:r>
              <a:rPr lang="en-GB" dirty="0" err="1"/>
              <a:t>TabPFN</a:t>
            </a:r>
            <a:r>
              <a:rPr lang="en-GB" dirty="0"/>
              <a:t> better distinguish between the features.</a:t>
            </a:r>
          </a:p>
          <a:p>
            <a:r>
              <a:rPr lang="en-GB" dirty="0"/>
              <a:t>After encoding, cells no longer contain scalars, but vectors. The transformer layers operate on these vector representations.</a:t>
            </a:r>
          </a:p>
        </p:txBody>
      </p:sp>
    </p:spTree>
    <p:extLst>
      <p:ext uri="{BB962C8B-B14F-4D97-AF65-F5344CB8AC3E}">
        <p14:creationId xmlns:p14="http://schemas.microsoft.com/office/powerpoint/2010/main" val="816524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E26DE-940E-12DC-5301-04E72B48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transformer layers route and aggregate information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D170F-CE22-0D82-F5E2-1214EA6C4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23856" y="6625606"/>
            <a:ext cx="2057400" cy="196059"/>
          </a:xfrm>
        </p:spPr>
        <p:txBody>
          <a:bodyPr/>
          <a:lstStyle/>
          <a:p>
            <a:fld id="{7E02DB99-574C-2F45-AD08-111B2D6C1F61}" type="slidenum">
              <a:rPr lang="en-NL" smtClean="0"/>
              <a:pPr/>
              <a:t>9</a:t>
            </a:fld>
            <a:endParaRPr lang="en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E96912-AE81-1905-8E89-152CBFC7D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776" y="2855540"/>
            <a:ext cx="8327790" cy="1359282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AC25C88-C120-8C1A-95FE-8C8BAEB84DBF}"/>
              </a:ext>
            </a:extLst>
          </p:cNvPr>
          <p:cNvSpPr/>
          <p:nvPr/>
        </p:nvSpPr>
        <p:spPr>
          <a:xfrm>
            <a:off x="5243191" y="2855540"/>
            <a:ext cx="1981200" cy="1470505"/>
          </a:xfrm>
          <a:prstGeom prst="roundRect">
            <a:avLst/>
          </a:prstGeom>
          <a:ln w="25400"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DB170B-B457-36CE-50DB-3273F6C36D35}"/>
              </a:ext>
            </a:extLst>
          </p:cNvPr>
          <p:cNvSpPr txBox="1"/>
          <p:nvPr/>
        </p:nvSpPr>
        <p:spPr>
          <a:xfrm>
            <a:off x="348343" y="928057"/>
            <a:ext cx="11321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The main computations happen within the transformer layers, which contain two attention layers: feature attention and datapoint attention.</a:t>
            </a:r>
          </a:p>
        </p:txBody>
      </p:sp>
    </p:spTree>
    <p:extLst>
      <p:ext uri="{BB962C8B-B14F-4D97-AF65-F5344CB8AC3E}">
        <p14:creationId xmlns:p14="http://schemas.microsoft.com/office/powerpoint/2010/main" val="2389520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66A8A-FC84-7185-58F6-57F060011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transformer layer route and aggregate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B6F1E-954F-D2F0-91F1-55AF39111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63" y="3733800"/>
            <a:ext cx="11428675" cy="2844012"/>
          </a:xfrm>
        </p:spPr>
        <p:txBody>
          <a:bodyPr/>
          <a:lstStyle/>
          <a:p>
            <a:r>
              <a:rPr lang="en-GB" dirty="0" err="1"/>
              <a:t>TabPFN</a:t>
            </a:r>
            <a:r>
              <a:rPr lang="en-GB" dirty="0"/>
              <a:t> contain multiple transformer layers in sequence. A transformer layer in </a:t>
            </a:r>
            <a:r>
              <a:rPr lang="en-GB" dirty="0" err="1"/>
              <a:t>nanoTabPFN</a:t>
            </a:r>
            <a:r>
              <a:rPr lang="en-GB" dirty="0"/>
              <a:t> contains the following:</a:t>
            </a:r>
          </a:p>
          <a:p>
            <a:pPr lvl="1"/>
            <a:r>
              <a:rPr lang="en-GB" dirty="0"/>
              <a:t>Feature attention: Attention mechanism that attends to cells in the same row.</a:t>
            </a:r>
          </a:p>
          <a:p>
            <a:pPr lvl="1"/>
            <a:r>
              <a:rPr lang="en-GB" dirty="0"/>
              <a:t>Datapoint attention: Attention mechanism that attends to cells in the same column.</a:t>
            </a:r>
          </a:p>
          <a:p>
            <a:pPr lvl="1"/>
            <a:r>
              <a:rPr lang="en-GB" dirty="0"/>
              <a:t>Multi-layer perceptron (MLP): A fully-connected network with 2 layers.</a:t>
            </a:r>
          </a:p>
          <a:p>
            <a:pPr lvl="1"/>
            <a:r>
              <a:rPr lang="en-GB" dirty="0"/>
              <a:t>Layer norm: After each operation, the cell representations are normalized.</a:t>
            </a:r>
          </a:p>
          <a:p>
            <a:pPr lvl="1"/>
            <a:r>
              <a:rPr lang="en-GB" dirty="0"/>
              <a:t>Skip connections, also called residual layers, before attention and MLP blocks.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7C0E4-5316-9388-616C-842D6FAC9A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23856" y="6625606"/>
            <a:ext cx="2057400" cy="196059"/>
          </a:xfrm>
        </p:spPr>
        <p:txBody>
          <a:bodyPr/>
          <a:lstStyle/>
          <a:p>
            <a:fld id="{7E02DB99-574C-2F45-AD08-111B2D6C1F61}" type="slidenum">
              <a:rPr lang="en-NL" smtClean="0"/>
              <a:pPr/>
              <a:t>10</a:t>
            </a:fld>
            <a:endParaRPr lang="en-NL" dirty="0"/>
          </a:p>
        </p:txBody>
      </p:sp>
      <p:pic>
        <p:nvPicPr>
          <p:cNvPr id="7" name="Content Placeholder 10">
            <a:extLst>
              <a:ext uri="{FF2B5EF4-FFF2-40B4-BE49-F238E27FC236}">
                <a16:creationId xmlns:a16="http://schemas.microsoft.com/office/drawing/2014/main" id="{FCB4DFB4-729C-E025-D272-9A9D071D7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2" y="814955"/>
            <a:ext cx="11430000" cy="227006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189212D-2DAC-F50F-4156-AA24244BC544}"/>
              </a:ext>
            </a:extLst>
          </p:cNvPr>
          <p:cNvCxnSpPr>
            <a:cxnSpLocks/>
          </p:cNvCxnSpPr>
          <p:nvPr/>
        </p:nvCxnSpPr>
        <p:spPr>
          <a:xfrm flipV="1">
            <a:off x="3385457" y="3085024"/>
            <a:ext cx="0" cy="75763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75F312D-3F4B-C6CB-3FCC-2B627BBC82AA}"/>
              </a:ext>
            </a:extLst>
          </p:cNvPr>
          <p:cNvSpPr txBox="1"/>
          <p:nvPr/>
        </p:nvSpPr>
        <p:spPr>
          <a:xfrm>
            <a:off x="3461657" y="3241675"/>
            <a:ext cx="3865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dirty="0">
                <a:ea typeface="Palatino" pitchFamily="2" charset="77"/>
                <a:cs typeface="Helvetica Neue" panose="02000503000000020004" pitchFamily="2" charset="0"/>
              </a:rPr>
              <a:t>Schematic of a single transformer layer.</a:t>
            </a:r>
          </a:p>
        </p:txBody>
      </p:sp>
    </p:spTree>
    <p:extLst>
      <p:ext uri="{BB962C8B-B14F-4D97-AF65-F5344CB8AC3E}">
        <p14:creationId xmlns:p14="http://schemas.microsoft.com/office/powerpoint/2010/main" val="946539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F57AE0-B84A-A833-60CE-9677B7675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Feature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C9BA1-4E3C-357C-43E1-6E5D3FAC51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Allows attending to other cells in the same row, meaning from the same data point.</a:t>
            </a:r>
          </a:p>
          <a:p>
            <a:r>
              <a:rPr lang="en-GB" dirty="0"/>
              <a:t>After this attention step, each cell’s vector representation is changed by the information contained in other cells of the same row (= same data point). In this step, the model can share information between all the features, including the target.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9404801-41D4-651D-98BA-2A3B30D7D39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7761514" y="1049288"/>
            <a:ext cx="2916172" cy="361425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C7603-867D-5246-2800-A7EB9FDB1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2DB99-574C-2F45-AD08-111B2D6C1F61}" type="slidenum">
              <a:rPr lang="en-NL" smtClean="0"/>
              <a:pPr/>
              <a:t>11</a:t>
            </a:fld>
            <a:endParaRPr lang="en-NL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7D45A53-4984-B971-1A70-3A701BC1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transformer layer route and aggregate information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01352A-43ED-01F6-F859-78104AD0D634}"/>
              </a:ext>
            </a:extLst>
          </p:cNvPr>
          <p:cNvSpPr txBox="1"/>
          <p:nvPr/>
        </p:nvSpPr>
        <p:spPr>
          <a:xfrm>
            <a:off x="7402285" y="4728322"/>
            <a:ext cx="42502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Feature attention. Note the asterisk on the cells: these are no longer the original cell values nor the initial embeddings (at least a bit deeper into the transformer). Instead, it’s a vector of length 512 (for </a:t>
            </a:r>
            <a:r>
              <a:rPr lang="en-GB" dirty="0" err="1"/>
              <a:t>TabPFN</a:t>
            </a:r>
            <a:r>
              <a:rPr lang="en-GB" dirty="0"/>
              <a:t>) representing the cell.</a:t>
            </a:r>
            <a:endParaRPr lang="en-GB" dirty="0">
              <a:ea typeface="Palatino" pitchFamily="2" charset="77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858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D5BA0-2BEE-9233-3D3A-F62D4CB3E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174AE3-A6BA-3DC4-6C48-0A228A7A5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Datapoint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5CA29-D7F7-3F94-AE80-AA8A77748B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Attends to cells from other data points.</a:t>
            </a:r>
          </a:p>
          <a:p>
            <a:r>
              <a:rPr lang="en-GB" dirty="0"/>
              <a:t>If you look at the vector representation for, say, cell x_12 (row 1, column 2), the datapoint attention layer can attend to other cells in the same column (and itself), for example, to x_22. </a:t>
            </a:r>
          </a:p>
          <a:p>
            <a:r>
              <a:rPr lang="en-GB" dirty="0"/>
              <a:t>This is somewhat similar to soft k-nearest </a:t>
            </a:r>
            <a:r>
              <a:rPr lang="en-GB" dirty="0" err="1"/>
              <a:t>neighbors</a:t>
            </a:r>
            <a:r>
              <a:rPr lang="en-GB" dirty="0"/>
              <a:t>: it finds the closest </a:t>
            </a:r>
            <a:r>
              <a:rPr lang="en-GB" dirty="0" err="1"/>
              <a:t>neighbor</a:t>
            </a:r>
            <a:r>
              <a:rPr lang="en-GB" dirty="0"/>
              <a:t> cells (from the same column) and pulls in some of their information. </a:t>
            </a:r>
          </a:p>
          <a:p>
            <a:r>
              <a:rPr lang="en-GB" dirty="0"/>
              <a:t>Datapoint attention distinguishes via masking whether a cell is from training or test data: cells can only attend to training data cells, but not to test data cells.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E4BB5-14D7-A511-629A-1CE442965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2DB99-574C-2F45-AD08-111B2D6C1F61}" type="slidenum">
              <a:rPr lang="en-NL" smtClean="0"/>
              <a:pPr/>
              <a:t>12</a:t>
            </a:fld>
            <a:endParaRPr lang="en-NL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F1C000-A3C7-3112-311D-B5C759A5B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transformer layer route and aggregate information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328990-BEBF-5444-7759-9993CF3AAF0D}"/>
              </a:ext>
            </a:extLst>
          </p:cNvPr>
          <p:cNvSpPr txBox="1"/>
          <p:nvPr/>
        </p:nvSpPr>
        <p:spPr>
          <a:xfrm>
            <a:off x="7391399" y="5033122"/>
            <a:ext cx="42502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Datapoint attention. Cells may attend to other cells in the same column. However, they may only attend to cells from the training data, not from the test data.</a:t>
            </a:r>
            <a:endParaRPr lang="en-GB" dirty="0">
              <a:ea typeface="Palatino" pitchFamily="2" charset="77"/>
              <a:cs typeface="Helvetica Neue" panose="02000503000000020004" pitchFamily="2" charset="0"/>
            </a:endParaRP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AEEFE3AD-8A0F-6C7C-770A-56BA104F997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7149336" y="1335979"/>
            <a:ext cx="4492321" cy="335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590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D3D8D-0B47-72FB-5A28-6CA39195A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transformer layer route and aggregate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52C40-8219-9322-B18E-C709929C6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63" y="3085024"/>
            <a:ext cx="11428675" cy="349278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While the attention mechanisms are busy moving around information between cells, what is the </a:t>
            </a:r>
            <a:r>
              <a:rPr lang="en-GB" b="1" dirty="0"/>
              <a:t>multi-layer perceptron (MLP)</a:t>
            </a:r>
            <a:r>
              <a:rPr lang="en-GB" dirty="0"/>
              <a:t> doing?</a:t>
            </a:r>
          </a:p>
          <a:p>
            <a:r>
              <a:rPr lang="en-GB" dirty="0"/>
              <a:t>It consists of two fully-connected linear layers with a Gaussian Error Linear Unit (GELU) activation function in between. </a:t>
            </a:r>
          </a:p>
          <a:p>
            <a:r>
              <a:rPr lang="en-GB" dirty="0"/>
              <a:t>The MLP acts as the primary processing unit for the information from the attention mechanisms and also introduces the needed non-linearity to model more complex functions.</a:t>
            </a:r>
          </a:p>
          <a:p>
            <a:r>
              <a:rPr lang="en-GB" dirty="0"/>
              <a:t>While both attention mechanisms pull in information, the MLP takes in the embedding of a cell and can update the representation.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5C547-125D-F3DE-09ED-6EAB7FEC87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E02DB99-574C-2F45-AD08-111B2D6C1F61}" type="slidenum">
              <a:rPr lang="en-NL" smtClean="0"/>
              <a:pPr/>
              <a:t>13</a:t>
            </a:fld>
            <a:endParaRPr lang="en-NL" dirty="0"/>
          </a:p>
        </p:txBody>
      </p:sp>
      <p:pic>
        <p:nvPicPr>
          <p:cNvPr id="5" name="Content Placeholder 10">
            <a:extLst>
              <a:ext uri="{FF2B5EF4-FFF2-40B4-BE49-F238E27FC236}">
                <a16:creationId xmlns:a16="http://schemas.microsoft.com/office/drawing/2014/main" id="{8C3D2491-F2E9-C0A6-AB8F-364D5B62E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2" y="814955"/>
            <a:ext cx="11430000" cy="227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654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7C6D3-3A1E-B76D-66F3-096783240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20D3F-2F2F-C0BC-5719-D290FB561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transformer layer route and aggregate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EAEFC-9757-D502-6067-4B75C1A7C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63" y="3085024"/>
            <a:ext cx="11428675" cy="3492788"/>
          </a:xfrm>
        </p:spPr>
        <p:txBody>
          <a:bodyPr>
            <a:normAutofit/>
          </a:bodyPr>
          <a:lstStyle/>
          <a:p>
            <a:r>
              <a:rPr lang="en-GB" dirty="0"/>
              <a:t>The transformer layer is repeated, sequentially, a few times. </a:t>
            </a:r>
          </a:p>
          <a:p>
            <a:r>
              <a:rPr lang="en-GB" dirty="0"/>
              <a:t>Each time, the input to the next transformer is based on the output of the previous. </a:t>
            </a:r>
          </a:p>
          <a:p>
            <a:r>
              <a:rPr lang="en-GB" dirty="0"/>
              <a:t>Each iteration routes and aggregates information in the table. </a:t>
            </a:r>
          </a:p>
          <a:p>
            <a:r>
              <a:rPr lang="en-GB" dirty="0"/>
              <a:t>If </a:t>
            </a:r>
            <a:r>
              <a:rPr lang="en-GB" dirty="0" err="1"/>
              <a:t>TabPFN</a:t>
            </a:r>
            <a:r>
              <a:rPr lang="en-GB" dirty="0"/>
              <a:t> is anything like convolutional neural networks, perhaps with each transformer iteration, the model builds up more and more abstract representations of the tabular cells. </a:t>
            </a:r>
            <a:r>
              <a:rPr lang="en-GB" dirty="0" err="1"/>
              <a:t>TabPFN</a:t>
            </a:r>
            <a:r>
              <a:rPr lang="en-GB" dirty="0"/>
              <a:t> has 12 transformer layers, and </a:t>
            </a:r>
            <a:r>
              <a:rPr lang="en-GB" dirty="0" err="1"/>
              <a:t>nanoTabPFN</a:t>
            </a:r>
            <a:r>
              <a:rPr lang="en-GB" dirty="0"/>
              <a:t> has 3.</a:t>
            </a:r>
          </a:p>
          <a:p>
            <a:pPr marL="0" indent="0">
              <a:buNone/>
            </a:pPr>
            <a:r>
              <a:rPr lang="en-GB" dirty="0"/>
              <a:t>After the transformer layers, we have an enriched representation of our tabular dataset. In the next step, we decode this representation to obtain </a:t>
            </a:r>
            <a:r>
              <a:rPr lang="en-GB" dirty="0" err="1"/>
              <a:t>y_test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73BD6-C0C5-8F59-B049-0F0FB785C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E02DB99-574C-2F45-AD08-111B2D6C1F61}" type="slidenum">
              <a:rPr lang="en-NL" smtClean="0"/>
              <a:pPr/>
              <a:t>14</a:t>
            </a:fld>
            <a:endParaRPr lang="en-NL" dirty="0"/>
          </a:p>
        </p:txBody>
      </p:sp>
      <p:pic>
        <p:nvPicPr>
          <p:cNvPr id="5" name="Content Placeholder 10">
            <a:extLst>
              <a:ext uri="{FF2B5EF4-FFF2-40B4-BE49-F238E27FC236}">
                <a16:creationId xmlns:a16="http://schemas.microsoft.com/office/drawing/2014/main" id="{B72BD067-8A09-E16E-7401-316E01BDD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2" y="814955"/>
            <a:ext cx="11430000" cy="227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939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D0640-A262-70FB-989B-6D86A1D89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decoder predicts the 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7F345-9286-7A31-9079-EE66A28F5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63" y="2255708"/>
            <a:ext cx="11428675" cy="4322103"/>
          </a:xfrm>
        </p:spPr>
        <p:txBody>
          <a:bodyPr/>
          <a:lstStyle/>
          <a:p>
            <a:r>
              <a:rPr lang="en-GB" dirty="0"/>
              <a:t>The decoder takes as input all the embeddings of cells that represent the test targets (</a:t>
            </a:r>
            <a:r>
              <a:rPr lang="en-GB" dirty="0" err="1"/>
              <a:t>y_test</a:t>
            </a:r>
            <a:r>
              <a:rPr lang="en-GB" dirty="0"/>
              <a:t>), which, after the transformer layers, are now enriched representations containing information from other cells as well.</a:t>
            </a:r>
          </a:p>
          <a:p>
            <a:r>
              <a:rPr lang="en-GB" dirty="0"/>
              <a:t>These vectors are pushed through a MLP. Thereby, the same MLP is applied to each </a:t>
            </a:r>
            <a:r>
              <a:rPr lang="en-GB" dirty="0" err="1"/>
              <a:t>y_test</a:t>
            </a:r>
            <a:r>
              <a:rPr lang="en-GB" dirty="0"/>
              <a:t> cell individually to decode the representation into a prediction.</a:t>
            </a:r>
          </a:p>
          <a:p>
            <a:r>
              <a:rPr lang="en-GB" dirty="0"/>
              <a:t>For classification, the result is then pushed through a </a:t>
            </a:r>
            <a:r>
              <a:rPr lang="en-GB" dirty="0" err="1"/>
              <a:t>softmax</a:t>
            </a:r>
            <a:r>
              <a:rPr lang="en-GB" dirty="0"/>
              <a:t> layer, which for classification is fixed to 10 outputs.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BFCC3-716D-21D4-7A1B-AE8F31DAA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E02DB99-574C-2F45-AD08-111B2D6C1F61}" type="slidenum">
              <a:rPr lang="en-NL" smtClean="0"/>
              <a:pPr/>
              <a:t>15</a:t>
            </a:fld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180EDE-B6D4-3905-8A62-E4BE3956B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433" y="785204"/>
            <a:ext cx="8327790" cy="1359282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6611C02-37D9-BD94-522B-B334721B6D36}"/>
              </a:ext>
            </a:extLst>
          </p:cNvPr>
          <p:cNvSpPr/>
          <p:nvPr/>
        </p:nvSpPr>
        <p:spPr>
          <a:xfrm>
            <a:off x="7246162" y="785204"/>
            <a:ext cx="1981200" cy="1470505"/>
          </a:xfrm>
          <a:prstGeom prst="roundRect">
            <a:avLst/>
          </a:prstGeom>
          <a:ln w="25400"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3918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4A63A-1BDA-9558-0B12-08C9FC636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7DEDD-ACF6-051E-B836-88EE0DA2D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short, during in-context learning for tabular models, the model treats the training data as a “dynamic lookup table”, routes information around the cells, and aggregates it, building up more and more abstract knowledge about the cell values.</a:t>
            </a:r>
          </a:p>
          <a:p>
            <a:r>
              <a:rPr lang="en-GB" dirty="0"/>
              <a:t>Note: the details presented here were about </a:t>
            </a:r>
            <a:r>
              <a:rPr lang="en-GB" dirty="0" err="1"/>
              <a:t>nanoTabPFN</a:t>
            </a:r>
            <a:r>
              <a:rPr lang="en-GB" dirty="0"/>
              <a:t>. </a:t>
            </a:r>
            <a:r>
              <a:rPr lang="en-GB" dirty="0" err="1"/>
              <a:t>TabPFN</a:t>
            </a:r>
            <a:r>
              <a:rPr lang="en-GB" dirty="0"/>
              <a:t> is more complex since it uses some tricks like feature grouping, adding random embeddings, and row hashing. Other TFMs, like </a:t>
            </a:r>
            <a:r>
              <a:rPr lang="en-GB" dirty="0" err="1"/>
              <a:t>TabICL</a:t>
            </a:r>
            <a:r>
              <a:rPr lang="en-GB" dirty="0"/>
              <a:t>, again have differences in their architectures.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23B70-B5EE-BFDD-D9E5-32A30D996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E02DB99-574C-2F45-AD08-111B2D6C1F61}" type="slidenum">
              <a:rPr lang="en-NL" smtClean="0"/>
              <a:pPr/>
              <a:t>16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47614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25400">
          <a:solidFill>
            <a:schemeClr val="tx1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54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smtClean="0">
            <a:ea typeface="Palatino" pitchFamily="2" charset="77"/>
            <a:cs typeface="Helvetica Neue" panose="020005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s" id="{0480E88A-94EB-D24D-BD82-78350F895EF1}" vid="{FD23A1CA-AC4D-E14E-B33A-8DCFE087F2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</TotalTime>
  <Words>1812</Words>
  <Application>Microsoft Macintosh PowerPoint</Application>
  <PresentationFormat>Widescreen</PresentationFormat>
  <Paragraphs>121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Helvetica Neue</vt:lpstr>
      <vt:lpstr>Palatino</vt:lpstr>
      <vt:lpstr>Wingdings</vt:lpstr>
      <vt:lpstr>Office Theme</vt:lpstr>
      <vt:lpstr>Understanding tabular foundation models: the architecture behind TabPFN</vt:lpstr>
      <vt:lpstr>Background</vt:lpstr>
      <vt:lpstr>Classical ML and Tabular Foundation Models</vt:lpstr>
      <vt:lpstr>Table cells become computational units</vt:lpstr>
      <vt:lpstr>Table cells become computational units</vt:lpstr>
      <vt:lpstr>TabPFN is an encoder-decoder transformer</vt:lpstr>
      <vt:lpstr>The encoder pre-processes and embeds</vt:lpstr>
      <vt:lpstr>The encoder pre-processes and embeds</vt:lpstr>
      <vt:lpstr>The encoder pre-processes and embeds</vt:lpstr>
      <vt:lpstr>The transformer layers route and aggregate information</vt:lpstr>
      <vt:lpstr>The transformer layer route and aggregate information</vt:lpstr>
      <vt:lpstr>The transformer layer route and aggregate information</vt:lpstr>
      <vt:lpstr>The transformer layer route and aggregate information</vt:lpstr>
      <vt:lpstr>The transformer layer route and aggregate information</vt:lpstr>
      <vt:lpstr>The transformer layer route and aggregate information</vt:lpstr>
      <vt:lpstr>The decoder predicts the test data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Saharan, M. (Mohit)</dc:creator>
  <cp:lastModifiedBy>Saharan, M. (Mohit)</cp:lastModifiedBy>
  <cp:revision>89</cp:revision>
  <dcterms:created xsi:type="dcterms:W3CDTF">2026-04-17T13:46:25Z</dcterms:created>
  <dcterms:modified xsi:type="dcterms:W3CDTF">2026-04-17T16:38:41Z</dcterms:modified>
</cp:coreProperties>
</file>